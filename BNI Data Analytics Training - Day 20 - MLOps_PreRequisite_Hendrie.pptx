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307" r:id="rId2"/>
    <p:sldId id="317" r:id="rId3"/>
    <p:sldId id="334" r:id="rId4"/>
    <p:sldId id="335" r:id="rId5"/>
    <p:sldId id="341" r:id="rId6"/>
    <p:sldId id="336" r:id="rId7"/>
    <p:sldId id="338" r:id="rId8"/>
    <p:sldId id="339" r:id="rId9"/>
    <p:sldId id="340" r:id="rId10"/>
    <p:sldId id="337" r:id="rId11"/>
  </p:sldIdLst>
  <p:sldSz cx="24384000" cy="13716000"/>
  <p:notesSz cx="13716000" cy="24384000"/>
  <p:embeddedFontLs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Liter" panose="020B0604020202020204" charset="0"/>
      <p:regular r:id="rId17"/>
    </p:embeddedFont>
    <p:embeddedFont>
      <p:font typeface="Quattrocento Sans" panose="020B0502050000020003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1" roundtripDataSignature="AMtx7mjQstnE3eehK156vzVORhLgrHr8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00A83A-4CFB-4841-8AED-41387D0344B4}">
  <a:tblStyle styleId="{8000A83A-4CFB-4841-8AED-41387D034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41" d="100"/>
          <a:sy n="41" d="100"/>
        </p:scale>
        <p:origin x="67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71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450" y="1828800"/>
            <a:ext cx="9144450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7;p13"/>
          <p:cNvGrpSpPr/>
          <p:nvPr/>
        </p:nvGrpSpPr>
        <p:grpSpPr>
          <a:xfrm>
            <a:off x="-1" y="13553886"/>
            <a:ext cx="24384001" cy="207221"/>
            <a:chOff x="-1" y="13553886"/>
            <a:chExt cx="24384001" cy="207221"/>
          </a:xfrm>
        </p:grpSpPr>
        <p:grpSp>
          <p:nvGrpSpPr>
            <p:cNvPr id="8" name="Google Shape;8;p13"/>
            <p:cNvGrpSpPr/>
            <p:nvPr/>
          </p:nvGrpSpPr>
          <p:grpSpPr>
            <a:xfrm>
              <a:off x="-1" y="13553886"/>
              <a:ext cx="24384001" cy="207221"/>
              <a:chOff x="0" y="-19050"/>
              <a:chExt cx="2709333" cy="336844"/>
            </a:xfrm>
          </p:grpSpPr>
          <p:sp>
            <p:nvSpPr>
              <p:cNvPr id="9" name="Google Shape;9;p13"/>
              <p:cNvSpPr/>
              <p:nvPr/>
            </p:nvSpPr>
            <p:spPr>
              <a:xfrm>
                <a:off x="0" y="0"/>
                <a:ext cx="2709333" cy="317794"/>
              </a:xfrm>
              <a:custGeom>
                <a:avLst/>
                <a:gdLst/>
                <a:ahLst/>
                <a:cxnLst/>
                <a:rect l="l" t="t" r="r" b="b"/>
                <a:pathLst>
                  <a:path w="2709333" h="317794" extrusionOk="0">
                    <a:moveTo>
                      <a:pt x="0" y="0"/>
                    </a:moveTo>
                    <a:lnTo>
                      <a:pt x="2709333" y="0"/>
                    </a:lnTo>
                    <a:lnTo>
                      <a:pt x="2709333" y="317794"/>
                    </a:lnTo>
                    <a:lnTo>
                      <a:pt x="0" y="317794"/>
                    </a:lnTo>
                    <a:close/>
                  </a:path>
                </a:pathLst>
              </a:custGeom>
              <a:solidFill>
                <a:srgbClr val="FFC05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10;p13"/>
              <p:cNvSpPr txBox="1"/>
              <p:nvPr/>
            </p:nvSpPr>
            <p:spPr>
              <a:xfrm>
                <a:off x="0" y="-19050"/>
                <a:ext cx="2709333" cy="336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1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1" name="Google Shape;11;p13"/>
            <p:cNvPicPr preferRelativeResize="0"/>
            <p:nvPr/>
          </p:nvPicPr>
          <p:blipFill rotWithShape="1">
            <a:blip r:embed="rId2">
              <a:alphaModFix/>
            </a:blip>
            <a:srcRect l="1793" t="50150" b="37018"/>
            <a:stretch/>
          </p:blipFill>
          <p:spPr>
            <a:xfrm>
              <a:off x="11163300" y="13565605"/>
              <a:ext cx="13220700" cy="1955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787734" y="1448858"/>
            <a:ext cx="21354400" cy="1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831200" y="3073266"/>
            <a:ext cx="22721600" cy="91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1219170" lvl="0" indent="-914378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2438340" lvl="1" indent="-84664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3657508" lvl="2" indent="-84664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4876678" lvl="3" indent="-84664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6095848" lvl="4" indent="-84664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7315018" lvl="5" indent="-84664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8534186" lvl="6" indent="-84664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9753356" lvl="7" indent="-84664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10972526" lvl="8" indent="-84664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2926806" y="12435266"/>
            <a:ext cx="1129600" cy="10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ctr"/>
            <a:fld id="{00000000-1234-1234-1234-123412341234}" type="slidenum">
              <a:rPr lang="id" smtClean="0"/>
              <a:pPr algn="ctr"/>
              <a:t>‹#›</a:t>
            </a:fld>
            <a:endParaRPr lang="id"/>
          </a:p>
        </p:txBody>
      </p:sp>
      <p:grpSp>
        <p:nvGrpSpPr>
          <p:cNvPr id="2" name="Google Shape;7;p13">
            <a:extLst>
              <a:ext uri="{FF2B5EF4-FFF2-40B4-BE49-F238E27FC236}">
                <a16:creationId xmlns:a16="http://schemas.microsoft.com/office/drawing/2014/main" id="{B55FB161-FA57-1462-270D-3C67B74C50A0}"/>
              </a:ext>
            </a:extLst>
          </p:cNvPr>
          <p:cNvGrpSpPr/>
          <p:nvPr userDrawn="1"/>
        </p:nvGrpSpPr>
        <p:grpSpPr>
          <a:xfrm>
            <a:off x="-1" y="13553886"/>
            <a:ext cx="24384001" cy="207221"/>
            <a:chOff x="-1" y="13553886"/>
            <a:chExt cx="24384001" cy="207221"/>
          </a:xfrm>
        </p:grpSpPr>
        <p:grpSp>
          <p:nvGrpSpPr>
            <p:cNvPr id="3" name="Google Shape;8;p13">
              <a:extLst>
                <a:ext uri="{FF2B5EF4-FFF2-40B4-BE49-F238E27FC236}">
                  <a16:creationId xmlns:a16="http://schemas.microsoft.com/office/drawing/2014/main" id="{0762C655-B95D-D1D1-E85E-DC587DFC9BE2}"/>
                </a:ext>
              </a:extLst>
            </p:cNvPr>
            <p:cNvGrpSpPr/>
            <p:nvPr/>
          </p:nvGrpSpPr>
          <p:grpSpPr>
            <a:xfrm>
              <a:off x="-1" y="13553886"/>
              <a:ext cx="24384001" cy="207221"/>
              <a:chOff x="0" y="-19050"/>
              <a:chExt cx="2709333" cy="336844"/>
            </a:xfrm>
          </p:grpSpPr>
          <p:sp>
            <p:nvSpPr>
              <p:cNvPr id="5" name="Google Shape;9;p13">
                <a:extLst>
                  <a:ext uri="{FF2B5EF4-FFF2-40B4-BE49-F238E27FC236}">
                    <a16:creationId xmlns:a16="http://schemas.microsoft.com/office/drawing/2014/main" id="{1CA9617B-C69C-FF76-08CE-8190E3DD0CDA}"/>
                  </a:ext>
                </a:extLst>
              </p:cNvPr>
              <p:cNvSpPr/>
              <p:nvPr/>
            </p:nvSpPr>
            <p:spPr>
              <a:xfrm>
                <a:off x="0" y="0"/>
                <a:ext cx="2709333" cy="317794"/>
              </a:xfrm>
              <a:custGeom>
                <a:avLst/>
                <a:gdLst/>
                <a:ahLst/>
                <a:cxnLst/>
                <a:rect l="l" t="t" r="r" b="b"/>
                <a:pathLst>
                  <a:path w="2709333" h="317794" extrusionOk="0">
                    <a:moveTo>
                      <a:pt x="0" y="0"/>
                    </a:moveTo>
                    <a:lnTo>
                      <a:pt x="2709333" y="0"/>
                    </a:lnTo>
                    <a:lnTo>
                      <a:pt x="2709333" y="317794"/>
                    </a:lnTo>
                    <a:lnTo>
                      <a:pt x="0" y="317794"/>
                    </a:lnTo>
                    <a:close/>
                  </a:path>
                </a:pathLst>
              </a:custGeom>
              <a:solidFill>
                <a:srgbClr val="FFC05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" name="Google Shape;10;p13">
                <a:extLst>
                  <a:ext uri="{FF2B5EF4-FFF2-40B4-BE49-F238E27FC236}">
                    <a16:creationId xmlns:a16="http://schemas.microsoft.com/office/drawing/2014/main" id="{C60419EA-7D49-53B6-4554-17D73679771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709333" cy="336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1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4" name="Google Shape;11;p13">
              <a:extLst>
                <a:ext uri="{FF2B5EF4-FFF2-40B4-BE49-F238E27FC236}">
                  <a16:creationId xmlns:a16="http://schemas.microsoft.com/office/drawing/2014/main" id="{3792F3BC-6A96-D4FF-99B3-7FD46B5F815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1793" t="50150" b="37018"/>
            <a:stretch/>
          </p:blipFill>
          <p:spPr>
            <a:xfrm>
              <a:off x="11163300" y="13565605"/>
              <a:ext cx="13220700" cy="1955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" name="Google Shape;76;p4" descr="https://kimi-img.moonshot.cn/pub/slides/okc/h44u3mrm4tle6/mnt/agents/output/converted/images/image_2.jpg">
            <a:extLst>
              <a:ext uri="{FF2B5EF4-FFF2-40B4-BE49-F238E27FC236}">
                <a16:creationId xmlns:a16="http://schemas.microsoft.com/office/drawing/2014/main" id="{6DF027DD-8488-11AC-1439-338072547D29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1662571" y="435429"/>
            <a:ext cx="2286000" cy="114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1457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22926806" y="12435266"/>
            <a:ext cx="1129600" cy="10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ctr"/>
            <a:fld id="{00000000-1234-1234-1234-123412341234}" type="slidenum">
              <a:rPr lang="id" smtClean="0"/>
              <a:pPr algn="ctr"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1642074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@anda.com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097671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7620000" y="0"/>
            <a:ext cx="2540000" cy="13716000"/>
          </a:xfrm>
          <a:prstGeom prst="rect">
            <a:avLst/>
          </a:prstGeom>
          <a:gradFill>
            <a:gsLst>
              <a:gs pos="0">
                <a:srgbClr val="F7F5F0">
                  <a:alpha val="0"/>
                </a:srgbClr>
              </a:gs>
              <a:gs pos="100000">
                <a:srgbClr val="F7F5F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160000" y="0"/>
            <a:ext cx="14224000" cy="13716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n-US" sz="18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Konsep hingga Praktik: Membangun Pipeline ML yang Andal</a:t>
            </a:r>
            <a:endParaRPr lang="en-US" sz="1800" dirty="0"/>
          </a:p>
        </p:txBody>
      </p:sp>
      <p:sp>
        <p:nvSpPr>
          <p:cNvPr id="20" name="Google Shape;20;p1"/>
          <p:cNvSpPr/>
          <p:nvPr/>
        </p:nvSpPr>
        <p:spPr>
          <a:xfrm>
            <a:off x="10976712" y="1761899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D4A03A"/>
                </a:solidFill>
                <a:latin typeface="Liter"/>
                <a:ea typeface="Liter"/>
                <a:cs typeface="Liter"/>
                <a:sym typeface="Liter"/>
              </a:rPr>
              <a:t>PUSILKOM UI TRAINING – Day 20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976712" y="2750996"/>
            <a:ext cx="11430000" cy="914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1B2A4A"/>
                </a:solidFill>
                <a:latin typeface="Liter"/>
                <a:ea typeface="Liter"/>
                <a:cs typeface="Liter"/>
                <a:sym typeface="Liter"/>
              </a:rPr>
              <a:t>BNI: Officer Development Program</a:t>
            </a:r>
            <a:endParaRPr sz="6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0992338" y="10574214"/>
            <a:ext cx="1524000" cy="50800"/>
          </a:xfrm>
          <a:prstGeom prst="rect">
            <a:avLst/>
          </a:prstGeom>
          <a:solidFill>
            <a:srgbClr val="D4A03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922000" y="12873946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6B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Copyright 2026 | Pusilkom UI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13431" y="437612"/>
            <a:ext cx="2031726" cy="1015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31695" y="616559"/>
            <a:ext cx="2295525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"/>
          <p:cNvGrpSpPr/>
          <p:nvPr/>
        </p:nvGrpSpPr>
        <p:grpSpPr>
          <a:xfrm>
            <a:off x="-1" y="13553886"/>
            <a:ext cx="24384001" cy="207221"/>
            <a:chOff x="-1" y="13553886"/>
            <a:chExt cx="24384001" cy="207221"/>
          </a:xfrm>
        </p:grpSpPr>
        <p:grpSp>
          <p:nvGrpSpPr>
            <p:cNvPr id="27" name="Google Shape;27;p1"/>
            <p:cNvGrpSpPr/>
            <p:nvPr/>
          </p:nvGrpSpPr>
          <p:grpSpPr>
            <a:xfrm>
              <a:off x="-1" y="13553886"/>
              <a:ext cx="24384001" cy="207221"/>
              <a:chOff x="0" y="-19050"/>
              <a:chExt cx="2709333" cy="336844"/>
            </a:xfrm>
          </p:grpSpPr>
          <p:sp>
            <p:nvSpPr>
              <p:cNvPr id="28" name="Google Shape;28;p1"/>
              <p:cNvSpPr/>
              <p:nvPr/>
            </p:nvSpPr>
            <p:spPr>
              <a:xfrm>
                <a:off x="0" y="0"/>
                <a:ext cx="2709333" cy="317794"/>
              </a:xfrm>
              <a:custGeom>
                <a:avLst/>
                <a:gdLst/>
                <a:ahLst/>
                <a:cxnLst/>
                <a:rect l="l" t="t" r="r" b="b"/>
                <a:pathLst>
                  <a:path w="2709333" h="317794" extrusionOk="0">
                    <a:moveTo>
                      <a:pt x="0" y="0"/>
                    </a:moveTo>
                    <a:lnTo>
                      <a:pt x="2709333" y="0"/>
                    </a:lnTo>
                    <a:lnTo>
                      <a:pt x="2709333" y="317794"/>
                    </a:lnTo>
                    <a:lnTo>
                      <a:pt x="0" y="317794"/>
                    </a:lnTo>
                    <a:close/>
                  </a:path>
                </a:pathLst>
              </a:custGeom>
              <a:solidFill>
                <a:srgbClr val="FFC05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1"/>
              <p:cNvSpPr txBox="1"/>
              <p:nvPr/>
            </p:nvSpPr>
            <p:spPr>
              <a:xfrm>
                <a:off x="0" y="-19050"/>
                <a:ext cx="2709333" cy="3368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1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30" name="Google Shape;30;p1"/>
            <p:cNvPicPr preferRelativeResize="0"/>
            <p:nvPr/>
          </p:nvPicPr>
          <p:blipFill rotWithShape="1">
            <a:blip r:embed="rId5">
              <a:alphaModFix/>
            </a:blip>
            <a:srcRect l="1793" t="50150" b="37018"/>
            <a:stretch/>
          </p:blipFill>
          <p:spPr>
            <a:xfrm>
              <a:off x="11163300" y="13565605"/>
              <a:ext cx="13220700" cy="19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1"/>
          <p:cNvSpPr/>
          <p:nvPr/>
        </p:nvSpPr>
        <p:spPr>
          <a:xfrm>
            <a:off x="10976712" y="4866487"/>
            <a:ext cx="12664831" cy="4986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8000" b="1" dirty="0" err="1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</a:t>
            </a:r>
            <a:r>
              <a:rPr lang="en-US" sz="8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dan AI Engineering Fundamentals – </a:t>
            </a:r>
            <a:r>
              <a:rPr lang="en-US" sz="8000" b="1" dirty="0" err="1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</a:t>
            </a:r>
            <a:r>
              <a:rPr lang="en-US" sz="8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Application Guide</a:t>
            </a:r>
            <a:endParaRPr sz="75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91A63737-9708-C77E-898F-E884B2B2ED8C}"/>
              </a:ext>
            </a:extLst>
          </p:cNvPr>
          <p:cNvSpPr/>
          <p:nvPr/>
        </p:nvSpPr>
        <p:spPr>
          <a:xfrm>
            <a:off x="10976712" y="11346513"/>
            <a:ext cx="82296" cy="56692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D" sz="3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F6E6F238-9062-EE7E-A119-ABC29F3C4CB9}"/>
              </a:ext>
            </a:extLst>
          </p:cNvPr>
          <p:cNvSpPr/>
          <p:nvPr/>
        </p:nvSpPr>
        <p:spPr>
          <a:xfrm>
            <a:off x="11375288" y="11490230"/>
            <a:ext cx="1097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Hendrie Gunawan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6848"/>
            <a:ext cx="18288000" cy="1142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: INSTALASI TOOLS 1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914400" y="13021056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2549104" y="13021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pic>
        <p:nvPicPr>
          <p:cNvPr id="25" name="Google Shape;154;p10" descr="https://kimi-img.moonshot.cn/pub/slides/okc/h44u3mrm4tle6/mnt/agents/output/converted/images/image_2.jpg">
            <a:extLst>
              <a:ext uri="{FF2B5EF4-FFF2-40B4-BE49-F238E27FC236}">
                <a16:creationId xmlns:a16="http://schemas.microsoft.com/office/drawing/2014/main" id="{F4F773F7-91F8-7BB7-9F15-25DEE1A7D09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62571" y="435429"/>
            <a:ext cx="2286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4B24150-0A43-D224-6FA4-236B91D76CF7}"/>
              </a:ext>
            </a:extLst>
          </p:cNvPr>
          <p:cNvSpPr txBox="1"/>
          <p:nvPr/>
        </p:nvSpPr>
        <p:spPr>
          <a:xfrm>
            <a:off x="914400" y="1654431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dirty="0" err="1"/>
              <a:t>Instalasi</a:t>
            </a:r>
            <a:r>
              <a:rPr lang="en-ID" sz="4800" b="1" dirty="0"/>
              <a:t> Python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89062C96-BF0B-636C-4142-7C5773A3C7E1}"/>
              </a:ext>
            </a:extLst>
          </p:cNvPr>
          <p:cNvSpPr/>
          <p:nvPr/>
        </p:nvSpPr>
        <p:spPr>
          <a:xfrm>
            <a:off x="8376104" y="2561429"/>
            <a:ext cx="15087400" cy="10459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Cek Apakah Sudah Ada ?, </a:t>
            </a:r>
            <a:r>
              <a:rPr lang="en-US" sz="3800" dirty="0" err="1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Ketikkan</a:t>
            </a:r>
            <a:r>
              <a:rPr lang="en-US" sz="38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perintah</a:t>
            </a:r>
            <a:r>
              <a:rPr lang="en-US" sz="38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“python –version” atau “python3 –version” (tanpa </a:t>
            </a:r>
            <a:r>
              <a:rPr lang="en-US" sz="3800" dirty="0" err="1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tanda</a:t>
            </a:r>
            <a:r>
              <a:rPr lang="en-US" sz="38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“) pada command prompt atau shell </a:t>
            </a:r>
            <a:r>
              <a:rPr lang="en-US" sz="3800" dirty="0" err="1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anda</a:t>
            </a:r>
            <a:r>
              <a:rPr lang="en-US" sz="38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(bash shell, z-shell)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Jika muncul response </a:t>
            </a:r>
            <a:r>
              <a:rPr lang="en-US" sz="3800" dirty="0" err="1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disertai</a:t>
            </a:r>
            <a:r>
              <a:rPr lang="en-US" sz="38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versi python berarti python sudah </a:t>
            </a:r>
            <a:r>
              <a:rPr lang="en-US" sz="3800" dirty="0" err="1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terinstall</a:t>
            </a:r>
            <a:r>
              <a:rPr lang="en-US" sz="38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endParaRPr lang="en-US" sz="3800" dirty="0">
              <a:solidFill>
                <a:srgbClr val="44506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800" dirty="0">
              <a:solidFill>
                <a:srgbClr val="44506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8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Jika </a:t>
            </a:r>
            <a:r>
              <a:rPr lang="en-US" sz="3800" dirty="0" err="1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belum</a:t>
            </a:r>
            <a:r>
              <a:rPr lang="en-US" sz="38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lakukan </a:t>
            </a:r>
            <a:r>
              <a:rPr lang="en-US" sz="3800" dirty="0" err="1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</a:t>
            </a:r>
            <a:r>
              <a:rPr lang="en-US" sz="3800" dirty="0">
                <a:solidFill>
                  <a:srgbClr val="445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berikut (Windows): 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Unduh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installer 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python.org/downloads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pilih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terbaru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(min 3.12)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Jalankan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installer — </a:t>
            </a:r>
            <a:r>
              <a:rPr lang="en-ID" sz="3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centang</a:t>
            </a:r>
            <a:r>
              <a:rPr lang="en-ID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kotak</a:t>
            </a:r>
            <a:r>
              <a:rPr lang="en-ID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"Add python.exe to PATH"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layar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pertama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langkah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sering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terlewat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Klik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"Install Now", 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tunggu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selesai</a:t>
            </a:r>
            <a:endParaRPr lang="en-ID" sz="3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Tutup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buka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ulang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terminal, 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cek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ulang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python –version</a:t>
            </a:r>
            <a:endParaRPr lang="en-US" sz="3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D" sz="3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 Linux </a:t>
            </a:r>
            <a:r>
              <a:rPr lang="en-ID" sz="38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bisa</a:t>
            </a:r>
            <a:r>
              <a:rPr lang="en-ID" sz="3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8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ID" sz="3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8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perintah</a:t>
            </a:r>
            <a:r>
              <a:rPr lang="en-ID" sz="3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sudo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apt update | </a:t>
            </a:r>
            <a:r>
              <a:rPr lang="en-ID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sudo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apt install python3 python3-venv python3-pip –y”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D" sz="3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 Mac </a:t>
            </a:r>
            <a:r>
              <a:rPr lang="en-ID" sz="38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ID" sz="3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8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ID" sz="38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homebrew “</a:t>
            </a:r>
            <a:r>
              <a:rPr lang="en-ID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brew install python@3.12”</a:t>
            </a:r>
            <a:endParaRPr lang="en-ID" sz="38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957DFBF-1076-D637-88A7-E56AFE4DD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529" y="4008832"/>
            <a:ext cx="5001323" cy="48965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2D6E88-7D3D-2012-2239-6C0D743E3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5542" y="5578885"/>
            <a:ext cx="4267121" cy="927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FDA2A-E102-ABA5-285A-3C44D343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96AF3D-33F7-640F-BA99-DABC314A9671}"/>
              </a:ext>
            </a:extLst>
          </p:cNvPr>
          <p:cNvSpPr/>
          <p:nvPr/>
        </p:nvSpPr>
        <p:spPr>
          <a:xfrm>
            <a:off x="914400" y="492955"/>
            <a:ext cx="1828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INSTALASI TOOLS (2)</a:t>
            </a:r>
            <a:endParaRPr lang="en-US" sz="6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94821B5-6353-19B8-EBEE-D45BA505B668}"/>
              </a:ext>
            </a:extLst>
          </p:cNvPr>
          <p:cNvSpPr/>
          <p:nvPr/>
        </p:nvSpPr>
        <p:spPr>
          <a:xfrm>
            <a:off x="914400" y="13021056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Pre-Requisite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CCDD1A0-43DF-427D-57A3-A952388288E9}"/>
              </a:ext>
            </a:extLst>
          </p:cNvPr>
          <p:cNvSpPr/>
          <p:nvPr/>
        </p:nvSpPr>
        <p:spPr>
          <a:xfrm>
            <a:off x="22549104" y="13021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pic>
        <p:nvPicPr>
          <p:cNvPr id="25" name="Google Shape;154;p10" descr="https://kimi-img.moonshot.cn/pub/slides/okc/h44u3mrm4tle6/mnt/agents/output/converted/images/image_2.jpg">
            <a:extLst>
              <a:ext uri="{FF2B5EF4-FFF2-40B4-BE49-F238E27FC236}">
                <a16:creationId xmlns:a16="http://schemas.microsoft.com/office/drawing/2014/main" id="{E380F236-4885-5092-A079-E6752AC0454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62571" y="435429"/>
            <a:ext cx="2286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73B3A07-1F07-BC6A-621D-153A1D8102E4}"/>
              </a:ext>
            </a:extLst>
          </p:cNvPr>
          <p:cNvSpPr txBox="1"/>
          <p:nvPr/>
        </p:nvSpPr>
        <p:spPr>
          <a:xfrm>
            <a:off x="914400" y="171603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Instalasi</a:t>
            </a:r>
            <a:r>
              <a:rPr lang="en-ID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Git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340EBEB9-55F5-3D34-3DE4-DF31C001EE7C}"/>
              </a:ext>
            </a:extLst>
          </p:cNvPr>
          <p:cNvSpPr/>
          <p:nvPr/>
        </p:nvSpPr>
        <p:spPr>
          <a:xfrm>
            <a:off x="8376104" y="3607178"/>
            <a:ext cx="15087400" cy="852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Cek Apakah Sudah Ada ?,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Ketikkan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perintah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“git –version”  (tanpa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tanda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“) pada command prompt atau shell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anda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(bash shell, z-shell)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Jika muncul response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disertai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versi git berarti git sudah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terinstall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endParaRPr lang="en-US" sz="40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Jika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belum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lakukan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berikut (Windows): 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Unduh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git-scm.com/download/win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Jalankan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installer,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pilihan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default (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klik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"Next"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terus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Buka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ulang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terminal,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cek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git --version</a:t>
            </a:r>
            <a:endParaRPr lang="en-US" sz="40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 Linux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bisa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perintah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ID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sudo</a:t>
            </a:r>
            <a:r>
              <a:rPr lang="en-ID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apt install git -y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”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 Mac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homebrew “brew install git”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terinstal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set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identitas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Git Anda (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wajib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dipakai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setiap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commit):</a:t>
            </a:r>
          </a:p>
          <a:p>
            <a:pPr marL="1071563" lvl="1" indent="-571500">
              <a:buFont typeface="Arial" panose="020B0604020202020204" pitchFamily="34" charset="0"/>
              <a:buChar char="•"/>
              <a:tabLst>
                <a:tab pos="1176338" algn="l"/>
              </a:tabLst>
            </a:pP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config --global user.name "Nama Anda" </a:t>
            </a:r>
          </a:p>
          <a:p>
            <a:pPr marL="1071563" lvl="1" indent="-571500">
              <a:buFont typeface="Arial" panose="020B0604020202020204" pitchFamily="34" charset="0"/>
              <a:buChar char="•"/>
              <a:tabLst>
                <a:tab pos="1176338" algn="l"/>
              </a:tabLst>
            </a:pP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config --global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user.email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email@anda.com</a:t>
            </a:r>
            <a:endParaRPr lang="en-ID" sz="40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D" sz="40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B80673-2A1C-6FD6-68DC-EEF493E82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499" y="4896475"/>
            <a:ext cx="3553321" cy="36676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DD9F0F-4360-060D-0E8E-0421A5CD3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852" y="4896475"/>
            <a:ext cx="5289775" cy="89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3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D219-CC43-C7A6-8A84-743A6DBA5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032623-FEE2-4E4D-5078-D1203F8C3B3E}"/>
              </a:ext>
            </a:extLst>
          </p:cNvPr>
          <p:cNvSpPr/>
          <p:nvPr/>
        </p:nvSpPr>
        <p:spPr>
          <a:xfrm>
            <a:off x="914400" y="144738"/>
            <a:ext cx="18288000" cy="129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INSTALASI TOOLS (3)</a:t>
            </a:r>
            <a:endParaRPr lang="en-US" sz="6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CE49CD5-B3E6-E2DB-113A-1D7779E1FE3A}"/>
              </a:ext>
            </a:extLst>
          </p:cNvPr>
          <p:cNvSpPr/>
          <p:nvPr/>
        </p:nvSpPr>
        <p:spPr>
          <a:xfrm>
            <a:off x="914400" y="13021056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Pre-Requisite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90FE9A1-D9DA-0F4C-4135-17C36D12D3D2}"/>
              </a:ext>
            </a:extLst>
          </p:cNvPr>
          <p:cNvSpPr/>
          <p:nvPr/>
        </p:nvSpPr>
        <p:spPr>
          <a:xfrm>
            <a:off x="22549104" y="13021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pic>
        <p:nvPicPr>
          <p:cNvPr id="25" name="Google Shape;154;p10" descr="https://kimi-img.moonshot.cn/pub/slides/okc/h44u3mrm4tle6/mnt/agents/output/converted/images/image_2.jpg">
            <a:extLst>
              <a:ext uri="{FF2B5EF4-FFF2-40B4-BE49-F238E27FC236}">
                <a16:creationId xmlns:a16="http://schemas.microsoft.com/office/drawing/2014/main" id="{911CEAFA-C6D1-FF61-6DF2-11F823E1BF0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62571" y="435429"/>
            <a:ext cx="2286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EFD280C-545F-7EBE-065B-46C47ADFCFF6}"/>
              </a:ext>
            </a:extLst>
          </p:cNvPr>
          <p:cNvSpPr txBox="1"/>
          <p:nvPr/>
        </p:nvSpPr>
        <p:spPr>
          <a:xfrm>
            <a:off x="914400" y="1988217"/>
            <a:ext cx="68971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Instalasi</a:t>
            </a:r>
            <a:r>
              <a:rPr lang="en-ID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Docker Desktop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14DA6DBD-85E8-F082-8B51-019F652AE72E}"/>
              </a:ext>
            </a:extLst>
          </p:cNvPr>
          <p:cNvSpPr/>
          <p:nvPr/>
        </p:nvSpPr>
        <p:spPr>
          <a:xfrm>
            <a:off x="8229600" y="1988217"/>
            <a:ext cx="15087400" cy="11032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Cek Apakah Sudah Ada ?,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Ketikkan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perintah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“docker –version”  (tanpa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tanda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“) pada command prompt atau shell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anda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(bash shell, z-shell)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Jika muncul response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disertai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versi berarti docker sudah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terinstall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endParaRPr lang="en-US" sz="40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Jika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belum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lakukan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berikut (Windows/Mac): 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Unduh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Docker Desktop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docker.com/products/docker-desktop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Jalankan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installer,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ikuti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(Windows mungkin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minta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aktifkan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WSL2 —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ikuti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saja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petunjuk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layar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biasanya perlu restart laptop sekali)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Buka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aplikasi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Docker Desktop, tunggu sampai statusnya "Running" (ikon paus di taskbar/menu bar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jadi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tidak </a:t>
            </a:r>
            <a:r>
              <a:rPr lang="en-US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animasi</a:t>
            </a:r>
            <a:r>
              <a:rPr lang="en-US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loading)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 Linux :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curl -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fsSL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https://get.docker.com -o get-docker.sh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sudo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get-docker.sh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sudo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usermod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docker $USER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D" sz="40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logout </a:t>
            </a:r>
            <a:r>
              <a:rPr lang="en-ID" sz="40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lalu</a:t>
            </a:r>
            <a:r>
              <a:rPr lang="en-ID" sz="40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login </a:t>
            </a:r>
            <a:r>
              <a:rPr lang="en-ID" sz="40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lagi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restart)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supaya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perintah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bisa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dipakai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6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sudo</a:t>
            </a:r>
            <a:r>
              <a:rPr lang="en-ID" sz="36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D" sz="40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Verifikasi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Instalasi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docker </a:t>
            </a:r>
            <a:r>
              <a:rPr lang="en-ID" sz="40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ID" sz="40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“docker run hello-world”</a:t>
            </a:r>
            <a:endParaRPr lang="en-ID" sz="32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12DCBB-5C97-E727-8EF3-ABD95F8E2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167" y="4308228"/>
            <a:ext cx="5877745" cy="50965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640354-2FE5-C4A8-8E2F-83CA51A1C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423" y="3607432"/>
            <a:ext cx="9519717" cy="92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2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70652-C0BD-07F5-41C5-D3620A4D2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F55E5D-3A7C-B043-3255-BD750802B7C5}"/>
              </a:ext>
            </a:extLst>
          </p:cNvPr>
          <p:cNvSpPr/>
          <p:nvPr/>
        </p:nvSpPr>
        <p:spPr>
          <a:xfrm>
            <a:off x="914400" y="144738"/>
            <a:ext cx="18288000" cy="129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INSTALASI TOOLS (3)</a:t>
            </a:r>
            <a:endParaRPr lang="en-US" sz="6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BC0C58D-93ED-28B6-7073-D92F2EF970A7}"/>
              </a:ext>
            </a:extLst>
          </p:cNvPr>
          <p:cNvSpPr/>
          <p:nvPr/>
        </p:nvSpPr>
        <p:spPr>
          <a:xfrm>
            <a:off x="914400" y="13021056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Pre-Requisite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6C31E2D-82EB-ACB8-06DC-1A9E9A4E07B7}"/>
              </a:ext>
            </a:extLst>
          </p:cNvPr>
          <p:cNvSpPr/>
          <p:nvPr/>
        </p:nvSpPr>
        <p:spPr>
          <a:xfrm>
            <a:off x="22549104" y="13021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pic>
        <p:nvPicPr>
          <p:cNvPr id="25" name="Google Shape;154;p10" descr="https://kimi-img.moonshot.cn/pub/slides/okc/h44u3mrm4tle6/mnt/agents/output/converted/images/image_2.jpg">
            <a:extLst>
              <a:ext uri="{FF2B5EF4-FFF2-40B4-BE49-F238E27FC236}">
                <a16:creationId xmlns:a16="http://schemas.microsoft.com/office/drawing/2014/main" id="{2405162D-76BE-6DB4-14A8-5CB8C3D5F99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62571" y="435429"/>
            <a:ext cx="2286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27E705-D3A1-21FB-01F2-134746E7AAA1}"/>
              </a:ext>
            </a:extLst>
          </p:cNvPr>
          <p:cNvSpPr txBox="1"/>
          <p:nvPr/>
        </p:nvSpPr>
        <p:spPr>
          <a:xfrm>
            <a:off x="914400" y="1439577"/>
            <a:ext cx="68971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Instalasi</a:t>
            </a:r>
            <a:r>
              <a:rPr lang="en-ID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Docker Desktop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6B0709-29E4-0D85-030E-DDAF35951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583" y="2819214"/>
            <a:ext cx="18287999" cy="1035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216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FF457-FD9C-1B24-180D-7C72B85FC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0">
            <a:extLst>
              <a:ext uri="{FF2B5EF4-FFF2-40B4-BE49-F238E27FC236}">
                <a16:creationId xmlns:a16="http://schemas.microsoft.com/office/drawing/2014/main" id="{900AD90B-EC77-D7E6-8564-63A61E00F277}"/>
              </a:ext>
            </a:extLst>
          </p:cNvPr>
          <p:cNvSpPr/>
          <p:nvPr/>
        </p:nvSpPr>
        <p:spPr>
          <a:xfrm>
            <a:off x="914400" y="13021056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Pre-Requisite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A38BFD9-1CF4-CE63-9753-BBD3E9FB8FAB}"/>
              </a:ext>
            </a:extLst>
          </p:cNvPr>
          <p:cNvSpPr/>
          <p:nvPr/>
        </p:nvSpPr>
        <p:spPr>
          <a:xfrm>
            <a:off x="22549104" y="13021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pic>
        <p:nvPicPr>
          <p:cNvPr id="25" name="Google Shape;154;p10" descr="https://kimi-img.moonshot.cn/pub/slides/okc/h44u3mrm4tle6/mnt/agents/output/converted/images/image_2.jpg">
            <a:extLst>
              <a:ext uri="{FF2B5EF4-FFF2-40B4-BE49-F238E27FC236}">
                <a16:creationId xmlns:a16="http://schemas.microsoft.com/office/drawing/2014/main" id="{156E5AAF-04A6-3EEB-32FA-ED901B347A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62571" y="435429"/>
            <a:ext cx="2286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Text 2">
            <a:extLst>
              <a:ext uri="{FF2B5EF4-FFF2-40B4-BE49-F238E27FC236}">
                <a16:creationId xmlns:a16="http://schemas.microsoft.com/office/drawing/2014/main" id="{DE1D730A-FC88-1CDC-7F64-BB8C56794EAD}"/>
              </a:ext>
            </a:extLst>
          </p:cNvPr>
          <p:cNvSpPr/>
          <p:nvPr/>
        </p:nvSpPr>
        <p:spPr>
          <a:xfrm>
            <a:off x="948959" y="2218509"/>
            <a:ext cx="22288187" cy="9650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Buka github.com, klik "Sign up",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ikuti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endParaRPr lang="en-US" sz="54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punya akun,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siapkan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cara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autentikasi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untuk git push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terminal — pilih salah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satu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503363" lvl="1" indent="-742950">
              <a:buFont typeface="+mj-lt"/>
              <a:buAutoNum type="arabicPeriod"/>
            </a:pP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Cara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termudah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(Personal Access Token) dengan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cara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Klik : GitHub → klik foto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Settings → Developer settings → Personal access tokens → Tokens (classic) → Generate new token →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centang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scope repo → Generate token, Salin dan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simpan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token ini di tempat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aman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muncul sekali). Token ini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dipakai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sebagai "password" saat git push diminta login.</a:t>
            </a:r>
          </a:p>
          <a:p>
            <a:pPr marL="1503363" lvl="1" indent="-742950">
              <a:buFont typeface="+mj-lt"/>
              <a:buAutoNum type="arabicPeriod"/>
            </a:pP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Cara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alternatif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(SSH key):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ikuti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panduan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resmi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docs.github.com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bagian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"Connecting to GitHub with SSH"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sudah </a:t>
            </a:r>
            <a:r>
              <a:rPr lang="en-US" sz="5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terbiasa</a:t>
            </a:r>
            <a:r>
              <a:rPr lang="en-US" sz="5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dengan SSH.</a:t>
            </a:r>
            <a:endParaRPr lang="en-ID" sz="44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DF18E816-EDC3-E41C-067B-DB795579EB81}"/>
              </a:ext>
            </a:extLst>
          </p:cNvPr>
          <p:cNvSpPr/>
          <p:nvPr/>
        </p:nvSpPr>
        <p:spPr>
          <a:xfrm>
            <a:off x="914400" y="144738"/>
            <a:ext cx="18288000" cy="129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: MEMBUAT AKUN GITHUB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421662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DCE39-1AAB-9595-2D04-E72A27A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0">
            <a:extLst>
              <a:ext uri="{FF2B5EF4-FFF2-40B4-BE49-F238E27FC236}">
                <a16:creationId xmlns:a16="http://schemas.microsoft.com/office/drawing/2014/main" id="{9C581877-B96F-3C1E-A8BC-44A20C45F90F}"/>
              </a:ext>
            </a:extLst>
          </p:cNvPr>
          <p:cNvSpPr/>
          <p:nvPr/>
        </p:nvSpPr>
        <p:spPr>
          <a:xfrm>
            <a:off x="914400" y="13021056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Pre-Requisite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AA02B36-0C30-7981-5030-CE787A92A8AB}"/>
              </a:ext>
            </a:extLst>
          </p:cNvPr>
          <p:cNvSpPr/>
          <p:nvPr/>
        </p:nvSpPr>
        <p:spPr>
          <a:xfrm>
            <a:off x="22549104" y="13021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pic>
        <p:nvPicPr>
          <p:cNvPr id="25" name="Google Shape;154;p10" descr="https://kimi-img.moonshot.cn/pub/slides/okc/h44u3mrm4tle6/mnt/agents/output/converted/images/image_2.jpg">
            <a:extLst>
              <a:ext uri="{FF2B5EF4-FFF2-40B4-BE49-F238E27FC236}">
                <a16:creationId xmlns:a16="http://schemas.microsoft.com/office/drawing/2014/main" id="{D528AE40-7DC7-703F-695E-B6C737CEBF9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62571" y="435429"/>
            <a:ext cx="2286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F3DE23-418C-E7FC-38A1-9E3925570466}"/>
              </a:ext>
            </a:extLst>
          </p:cNvPr>
          <p:cNvSpPr txBox="1"/>
          <p:nvPr/>
        </p:nvSpPr>
        <p:spPr>
          <a:xfrm>
            <a:off x="914399" y="4115446"/>
            <a:ext cx="230341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Silahkan</a:t>
            </a:r>
            <a:r>
              <a:rPr lang="en-ID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Unduh</a:t>
            </a:r>
            <a:r>
              <a:rPr lang="en-ID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D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train.csv (dataset </a:t>
            </a:r>
            <a:r>
              <a:rPr lang="en-ID" sz="4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latihan</a:t>
            </a:r>
            <a:r>
              <a:rPr lang="en-ID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D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train_v2.csv (</a:t>
            </a:r>
            <a:r>
              <a:rPr lang="en-ID" sz="4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</a:t>
            </a:r>
            <a:r>
              <a:rPr lang="en-ID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kedua</a:t>
            </a:r>
            <a:r>
              <a:rPr lang="en-ID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dataset, </a:t>
            </a:r>
            <a:r>
              <a:rPr lang="en-ID" sz="4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ID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Langkah 1.3)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D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production_simulasi.csv (</a:t>
            </a:r>
            <a:r>
              <a:rPr lang="en-ID" sz="4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ID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simulasi</a:t>
            </a:r>
            <a:r>
              <a:rPr lang="en-ID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drift di Blok 5)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D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D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Melalui</a:t>
            </a:r>
            <a:r>
              <a:rPr lang="en-ID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LMS </a:t>
            </a:r>
            <a:r>
              <a:rPr lang="en-ID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Pusilkom</a:t>
            </a:r>
            <a:r>
              <a:rPr lang="en-ID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800" dirty="0" err="1"/>
              <a:t>Simpan</a:t>
            </a:r>
            <a:r>
              <a:rPr lang="en-ID" sz="4800" dirty="0"/>
              <a:t> </a:t>
            </a:r>
            <a:r>
              <a:rPr lang="en-ID" sz="4800" dirty="0" err="1"/>
              <a:t>ketiganya</a:t>
            </a:r>
            <a:r>
              <a:rPr lang="en-ID" sz="4800" dirty="0"/>
              <a:t> di </a:t>
            </a:r>
            <a:r>
              <a:rPr lang="en-ID" sz="4800" dirty="0" err="1"/>
              <a:t>satu</a:t>
            </a:r>
            <a:r>
              <a:rPr lang="en-ID" sz="4800" dirty="0"/>
              <a:t> folder </a:t>
            </a:r>
            <a:endParaRPr lang="en-ID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5F12809-CCB4-0CC3-589B-B94110060ECE}"/>
              </a:ext>
            </a:extLst>
          </p:cNvPr>
          <p:cNvSpPr/>
          <p:nvPr/>
        </p:nvSpPr>
        <p:spPr>
          <a:xfrm>
            <a:off x="914400" y="144738"/>
            <a:ext cx="18288000" cy="1294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: UNDUH DATA LATIHAN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85374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9F750-65D5-0722-E73C-1AD55520F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0">
            <a:extLst>
              <a:ext uri="{FF2B5EF4-FFF2-40B4-BE49-F238E27FC236}">
                <a16:creationId xmlns:a16="http://schemas.microsoft.com/office/drawing/2014/main" id="{31F08241-641E-FB07-6668-185C0F0371D9}"/>
              </a:ext>
            </a:extLst>
          </p:cNvPr>
          <p:cNvSpPr/>
          <p:nvPr/>
        </p:nvSpPr>
        <p:spPr>
          <a:xfrm>
            <a:off x="914400" y="13021056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Pre-Requisite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692F0D7-DFBC-9B0C-42AF-5A90341757C1}"/>
              </a:ext>
            </a:extLst>
          </p:cNvPr>
          <p:cNvSpPr/>
          <p:nvPr/>
        </p:nvSpPr>
        <p:spPr>
          <a:xfrm>
            <a:off x="22549104" y="13021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pic>
        <p:nvPicPr>
          <p:cNvPr id="25" name="Google Shape;154;p10" descr="https://kimi-img.moonshot.cn/pub/slides/okc/h44u3mrm4tle6/mnt/agents/output/converted/images/image_2.jpg">
            <a:extLst>
              <a:ext uri="{FF2B5EF4-FFF2-40B4-BE49-F238E27FC236}">
                <a16:creationId xmlns:a16="http://schemas.microsoft.com/office/drawing/2014/main" id="{39536495-1BA4-E230-574A-F53005BB826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62571" y="435429"/>
            <a:ext cx="2286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6BF5B5-795A-4C1D-54EF-AA58D1C0390A}"/>
              </a:ext>
            </a:extLst>
          </p:cNvPr>
          <p:cNvSpPr txBox="1"/>
          <p:nvPr/>
        </p:nvSpPr>
        <p:spPr>
          <a:xfrm>
            <a:off x="914399" y="4115446"/>
            <a:ext cx="230341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Cek Kembali </a:t>
            </a:r>
            <a:r>
              <a:rPr lang="en-ID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Keseluruhan</a:t>
            </a:r>
            <a:r>
              <a:rPr lang="en-ID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Instalasi</a:t>
            </a:r>
            <a:r>
              <a:rPr lang="en-ID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CD8ADF-F459-62CC-0172-D7F6490BDF40}"/>
              </a:ext>
            </a:extLst>
          </p:cNvPr>
          <p:cNvSpPr txBox="1"/>
          <p:nvPr/>
        </p:nvSpPr>
        <p:spPr>
          <a:xfrm>
            <a:off x="914398" y="435429"/>
            <a:ext cx="162501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: CEK DAN RICEK KESELURUHAN INSTALASI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545800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43425-0BB6-41B8-276B-08D8746F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0">
            <a:extLst>
              <a:ext uri="{FF2B5EF4-FFF2-40B4-BE49-F238E27FC236}">
                <a16:creationId xmlns:a16="http://schemas.microsoft.com/office/drawing/2014/main" id="{87CF0BA6-445D-D9D7-5C45-DFFA8FF95367}"/>
              </a:ext>
            </a:extLst>
          </p:cNvPr>
          <p:cNvSpPr/>
          <p:nvPr/>
        </p:nvSpPr>
        <p:spPr>
          <a:xfrm>
            <a:off x="914400" y="13021056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Pre-Requisite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1E8A65F-0AF5-903C-E89D-11110879170E}"/>
              </a:ext>
            </a:extLst>
          </p:cNvPr>
          <p:cNvSpPr/>
          <p:nvPr/>
        </p:nvSpPr>
        <p:spPr>
          <a:xfrm>
            <a:off x="22549104" y="13021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pic>
        <p:nvPicPr>
          <p:cNvPr id="25" name="Google Shape;154;p10" descr="https://kimi-img.moonshot.cn/pub/slides/okc/h44u3mrm4tle6/mnt/agents/output/converted/images/image_2.jpg">
            <a:extLst>
              <a:ext uri="{FF2B5EF4-FFF2-40B4-BE49-F238E27FC236}">
                <a16:creationId xmlns:a16="http://schemas.microsoft.com/office/drawing/2014/main" id="{1BA9E450-0C67-0E27-B258-42FE2160F7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62571" y="435429"/>
            <a:ext cx="2286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Text 2">
            <a:extLst>
              <a:ext uri="{FF2B5EF4-FFF2-40B4-BE49-F238E27FC236}">
                <a16:creationId xmlns:a16="http://schemas.microsoft.com/office/drawing/2014/main" id="{2B6C68F2-2127-1847-D4D8-82017E31B58E}"/>
              </a:ext>
            </a:extLst>
          </p:cNvPr>
          <p:cNvSpPr/>
          <p:nvPr/>
        </p:nvSpPr>
        <p:spPr>
          <a:xfrm>
            <a:off x="5157851" y="1888325"/>
            <a:ext cx="17999442" cy="9049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Buat folder project dan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masuk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dalamnya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perintah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mkdir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mlops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-training”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apapun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terserah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anda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Pada Windows/Mac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file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exporer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membuat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direktori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baru</a:t>
            </a:r>
            <a:endParaRPr lang="en-ID" sz="44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Buat Subfolder data, dan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pindahkan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ketiga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unduhan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file pada proses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folder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endParaRPr lang="en-ID" sz="44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Buat Virtual Environment (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Sebuah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Lingkungan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Python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Terisolasi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(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contoh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disini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Adalah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venv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nama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perintah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“python –m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venv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venv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dan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tunggu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sampai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folder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baru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venv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Aktifkan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Virtual Environment : 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 Linux/Mac : source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venv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/bin/activate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 Windows Command Prompt “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venv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\Scripts\activate.bat”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Powershell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</a:t>
            </a:r>
            <a:r>
              <a:rPr lang="en-ID" sz="4400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venv</a:t>
            </a:r>
            <a:r>
              <a:rPr lang="en-ID" sz="44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\Scripts\Activate.ps1“: </a:t>
            </a:r>
          </a:p>
          <a:p>
            <a:pPr marL="1176338" lvl="1" indent="-571500">
              <a:buFont typeface="Arial" panose="020B0604020202020204" pitchFamily="34" charset="0"/>
              <a:buChar char="•"/>
            </a:pPr>
            <a:r>
              <a:rPr lang="en-ID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Tanda </a:t>
            </a:r>
            <a:r>
              <a:rPr lang="en-ID" sz="4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berhasil</a:t>
            </a:r>
            <a:r>
              <a:rPr lang="en-ID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ID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muncul</a:t>
            </a:r>
            <a:r>
              <a:rPr lang="en-ID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tulisan </a:t>
            </a:r>
            <a:r>
              <a:rPr lang="en-ID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D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venv</a:t>
            </a:r>
            <a:r>
              <a:rPr lang="en-ID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ID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 </a:t>
            </a:r>
            <a:r>
              <a:rPr lang="en-ID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awal</a:t>
            </a:r>
            <a:r>
              <a:rPr lang="en-ID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baris terminal</a:t>
            </a:r>
            <a:endParaRPr lang="en-ID" sz="44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50BCF-D922-3AA1-08D6-79218240A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087" y="5005750"/>
            <a:ext cx="2850461" cy="27907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633527-FC87-F5E6-8ACD-12AE31302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40" y="10981239"/>
            <a:ext cx="10076456" cy="11290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363532-47B5-5C5E-15EE-64095B6751BF}"/>
              </a:ext>
            </a:extLst>
          </p:cNvPr>
          <p:cNvSpPr txBox="1"/>
          <p:nvPr/>
        </p:nvSpPr>
        <p:spPr>
          <a:xfrm>
            <a:off x="435429" y="146304"/>
            <a:ext cx="200645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: SETUP FOLDER DAN VIRTUAL ENVIRONMENT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99479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E7337-D087-ED77-B9E0-D38FE16AC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0">
            <a:extLst>
              <a:ext uri="{FF2B5EF4-FFF2-40B4-BE49-F238E27FC236}">
                <a16:creationId xmlns:a16="http://schemas.microsoft.com/office/drawing/2014/main" id="{A38BAAD3-C0E4-C560-5438-668B270B871A}"/>
              </a:ext>
            </a:extLst>
          </p:cNvPr>
          <p:cNvSpPr/>
          <p:nvPr/>
        </p:nvSpPr>
        <p:spPr>
          <a:xfrm>
            <a:off x="0" y="13115683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Pre-Requisite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DA68B6F-F8F3-ECCD-2A20-6AEA0F1B9921}"/>
              </a:ext>
            </a:extLst>
          </p:cNvPr>
          <p:cNvSpPr/>
          <p:nvPr/>
        </p:nvSpPr>
        <p:spPr>
          <a:xfrm>
            <a:off x="22549104" y="13021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pic>
        <p:nvPicPr>
          <p:cNvPr id="25" name="Google Shape;154;p10" descr="https://kimi-img.moonshot.cn/pub/slides/okc/h44u3mrm4tle6/mnt/agents/output/converted/images/image_2.jpg">
            <a:extLst>
              <a:ext uri="{FF2B5EF4-FFF2-40B4-BE49-F238E27FC236}">
                <a16:creationId xmlns:a16="http://schemas.microsoft.com/office/drawing/2014/main" id="{806DB801-149F-BBC4-EEBE-1E74B574CA4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62571" y="435429"/>
            <a:ext cx="2286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9651955-7541-B5F0-4D23-E0352F45370F}"/>
              </a:ext>
            </a:extLst>
          </p:cNvPr>
          <p:cNvSpPr txBox="1"/>
          <p:nvPr/>
        </p:nvSpPr>
        <p:spPr>
          <a:xfrm>
            <a:off x="429333" y="1674298"/>
            <a:ext cx="230341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Instalasi</a:t>
            </a:r>
            <a:r>
              <a:rPr lang="en-ID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DVC, </a:t>
            </a:r>
            <a:r>
              <a:rPr lang="en-ID" sz="4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MLflow</a:t>
            </a:r>
            <a:r>
              <a:rPr lang="en-ID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dan Library Python Lain Pada Virtual Environment Kita, </a:t>
            </a:r>
            <a:endParaRPr lang="en-ID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88E90-A983-2A57-3703-86A1204CF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501" y="3498571"/>
            <a:ext cx="2705478" cy="1752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04B1EC-D066-9FB7-0731-EF9147B0A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375" y="6188476"/>
            <a:ext cx="3496163" cy="1457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439DAE-74CC-4B42-3A53-D15B4F223B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830" y="8349078"/>
            <a:ext cx="2850461" cy="2790737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95014AD-9567-83E4-21AF-DEA57F0C4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579202"/>
              </p:ext>
            </p:extLst>
          </p:nvPr>
        </p:nvGraphicFramePr>
        <p:xfrm>
          <a:off x="5288716" y="2792318"/>
          <a:ext cx="17260388" cy="9053749"/>
        </p:xfrm>
        <a:graphic>
          <a:graphicData uri="http://schemas.openxmlformats.org/drawingml/2006/table">
            <a:tbl>
              <a:tblPr/>
              <a:tblGrid>
                <a:gridCol w="4519748">
                  <a:extLst>
                    <a:ext uri="{9D8B030D-6E8A-4147-A177-3AD203B41FA5}">
                      <a16:colId xmlns:a16="http://schemas.microsoft.com/office/drawing/2014/main" val="1482971741"/>
                    </a:ext>
                  </a:extLst>
                </a:gridCol>
                <a:gridCol w="6987177">
                  <a:extLst>
                    <a:ext uri="{9D8B030D-6E8A-4147-A177-3AD203B41FA5}">
                      <a16:colId xmlns:a16="http://schemas.microsoft.com/office/drawing/2014/main" val="281101034"/>
                    </a:ext>
                  </a:extLst>
                </a:gridCol>
                <a:gridCol w="5753463">
                  <a:extLst>
                    <a:ext uri="{9D8B030D-6E8A-4147-A177-3AD203B41FA5}">
                      <a16:colId xmlns:a16="http://schemas.microsoft.com/office/drawing/2014/main" val="711565529"/>
                    </a:ext>
                  </a:extLst>
                </a:gridCol>
              </a:tblGrid>
              <a:tr h="1221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Fungsi</a:t>
                      </a:r>
                      <a:r>
                        <a:rPr lang="en-ID" sz="4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di training </a:t>
                      </a:r>
                      <a:r>
                        <a:rPr lang="en-ID" sz="400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</a:t>
                      </a:r>
                      <a:endParaRPr lang="en-ID" sz="4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Cara install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426316"/>
                  </a:ext>
                </a:extLst>
              </a:tr>
              <a:tr h="1187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pandas</a:t>
                      </a:r>
                      <a:endParaRPr lang="en-ID" sz="4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Membaca</a:t>
                      </a:r>
                      <a:r>
                        <a:rPr lang="en-ID" sz="4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&amp; </a:t>
                      </a:r>
                      <a:r>
                        <a:rPr lang="en-ID" sz="4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mengolah</a:t>
                      </a:r>
                      <a:r>
                        <a:rPr lang="en-ID" sz="4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data tabular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pip install pandas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465050"/>
                  </a:ext>
                </a:extLst>
              </a:tr>
              <a:tr h="644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scikit-learn</a:t>
                      </a:r>
                      <a:endParaRPr lang="en-ID" sz="4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Melatih</a:t>
                      </a:r>
                      <a:r>
                        <a:rPr lang="en-ID" sz="4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model 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pip install scikit-learn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430578"/>
                  </a:ext>
                </a:extLst>
              </a:tr>
              <a:tr h="1187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mlflow</a:t>
                      </a:r>
                      <a:endParaRPr lang="en-ID" sz="4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Mencatat</a:t>
                      </a:r>
                      <a:r>
                        <a:rPr lang="en-ID" sz="4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4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eksperimen</a:t>
                      </a:r>
                      <a:r>
                        <a:rPr lang="en-ID" sz="4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(parameter, metric, model)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pip install </a:t>
                      </a:r>
                      <a:r>
                        <a:rPr lang="en-ID" sz="400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mlflow</a:t>
                      </a:r>
                      <a:endParaRPr lang="en-ID" sz="4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36572"/>
                  </a:ext>
                </a:extLst>
              </a:tr>
              <a:tr h="644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dvc</a:t>
                      </a:r>
                      <a:endParaRPr lang="en-ID" sz="4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Versioning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pip install </a:t>
                      </a:r>
                      <a:r>
                        <a:rPr lang="en-ID" sz="400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dvc</a:t>
                      </a:r>
                      <a:endParaRPr lang="en-ID" sz="4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714858"/>
                  </a:ext>
                </a:extLst>
              </a:tr>
              <a:tr h="1187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great_expectations</a:t>
                      </a:r>
                      <a:endParaRPr lang="en-ID" sz="4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Validasi kualitas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pip install </a:t>
                      </a:r>
                      <a:r>
                        <a:rPr lang="en-ID" sz="400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great_expectations</a:t>
                      </a:r>
                      <a:endParaRPr lang="en-ID" sz="4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823556"/>
                  </a:ext>
                </a:extLst>
              </a:tr>
              <a:tr h="1187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fastapi</a:t>
                      </a:r>
                      <a:r>
                        <a:rPr lang="en-ID" sz="4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+ </a:t>
                      </a:r>
                      <a:r>
                        <a:rPr lang="en-ID" sz="4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uvicorn</a:t>
                      </a:r>
                      <a:endParaRPr lang="en-ID" sz="4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Membungkus model jadi REST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pip install </a:t>
                      </a:r>
                      <a:r>
                        <a:rPr lang="en-ID" sz="400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fastapi</a:t>
                      </a:r>
                      <a:r>
                        <a:rPr lang="en-ID" sz="4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400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uvicorn</a:t>
                      </a:r>
                      <a:endParaRPr lang="en-ID" sz="40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559149"/>
                  </a:ext>
                </a:extLst>
              </a:tr>
              <a:tr h="1187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evidently</a:t>
                      </a:r>
                      <a:endParaRPr lang="en-ID" sz="4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Deteksi</a:t>
                      </a:r>
                      <a:r>
                        <a:rPr lang="en-ID" sz="4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data drift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4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pip install evidently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1707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1A4166E-242F-1AC1-DE70-7070282C49FA}"/>
              </a:ext>
            </a:extLst>
          </p:cNvPr>
          <p:cNvSpPr txBox="1"/>
          <p:nvPr/>
        </p:nvSpPr>
        <p:spPr>
          <a:xfrm>
            <a:off x="914399" y="12133091"/>
            <a:ext cx="2303417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Checkpoint : </a:t>
            </a: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Jalankan</a:t>
            </a: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pip list | grep </a:t>
            </a: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mlflow</a:t>
            </a: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(Mac/Linux) </a:t>
            </a: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pip list | </a:t>
            </a: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findstr</a:t>
            </a: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mlflow</a:t>
            </a: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(Windows) — </a:t>
            </a: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muncul</a:t>
            </a: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baris </a:t>
            </a: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mlflow</a:t>
            </a: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nomor</a:t>
            </a: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</a:t>
            </a:r>
            <a:r>
              <a:rPr lang="en-ID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061C3A-AB84-AC2A-E741-42C49CD9F518}"/>
              </a:ext>
            </a:extLst>
          </p:cNvPr>
          <p:cNvSpPr txBox="1"/>
          <p:nvPr/>
        </p:nvSpPr>
        <p:spPr>
          <a:xfrm>
            <a:off x="435429" y="146304"/>
            <a:ext cx="200645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: INSTALASI LIBRARY PYTHON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502911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989</Words>
  <Application>Microsoft Office PowerPoint</Application>
  <PresentationFormat>Custom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Cambria</vt:lpstr>
      <vt:lpstr>Calibri</vt:lpstr>
      <vt:lpstr>Quattrocento Sans</vt:lpstr>
      <vt:lpstr>Liter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Kimi</dc:creator>
  <cp:lastModifiedBy>rhdyaksa@gmail.com</cp:lastModifiedBy>
  <cp:revision>126</cp:revision>
  <dcterms:created xsi:type="dcterms:W3CDTF">2026-06-30T03:03:03Z</dcterms:created>
  <dcterms:modified xsi:type="dcterms:W3CDTF">2026-08-12T03:37:57Z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{"Label":"Pusilkom UI Training Bootcamp Data Analytics, AI, dan Big Data","ContentProducer":"001191110108MACG2KBH8F10000","ProduceID":"19f1654a-1dd2-8d63-8000-00002e0d93c0","ReservedCode1":"","ContentPropagator":"001191110108MACG2KBH8F20000","PropagateID":"19f164f6-d1a2-8017-8000-094b092ed10c","ReservedCode2":""}</vt:lpwstr>
  </property>
</Properties>
</file>